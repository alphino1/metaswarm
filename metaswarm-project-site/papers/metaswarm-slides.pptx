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S1.svg. Faithful image conversion; slide text is not individually editable.</a:t>
            </a:r>
          </a:p>
          <a:p/>
          <a:p>
            <a:r>
              <a:t>The long tail</a:t>
            </a:r>
          </a:p>
          <a:p>
            <a:r>
              <a:t>remains.</a:t>
            </a:r>
          </a:p>
          <a:p>
            <a:r>
              <a:t>MetaSwarm at AbjadMed</a:t>
            </a:r>
          </a:p>
          <a:p>
            <a:r>
              <a:t>Focal, Class-Balanced Optimization for</a:t>
            </a:r>
          </a:p>
          <a:p>
            <a:r>
              <a:t>Diglossic Medical Text in Abjad Scripts</a:t>
            </a:r>
          </a:p>
          <a:p>
            <a:r>
              <a:t>PRIVATE MACRO-F1</a:t>
            </a:r>
          </a:p>
          <a:p>
            <a:r>
              <a:t>0.3520</a:t>
            </a:r>
          </a:p>
          <a:p>
            <a:r>
              <a:t>A documented recipe.</a:t>
            </a:r>
          </a:p>
          <a:p>
            <a:r>
              <a:t>A measurable failure tail.</a:t>
            </a:r>
          </a:p>
          <a:p>
            <a:r>
              <a:t>Rahul Jaisy</a:t>
            </a:r>
          </a:p>
          <a:p>
            <a:r>
              <a:t>Assam Engineering College Guwahati</a:t>
            </a:r>
          </a:p>
          <a:p>
            <a:r>
              <a:t>01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S2.svg. Faithful image conversion; slide text is not individually editable.</a:t>
            </a:r>
          </a:p>
          <a:p/>
          <a:p>
            <a:r>
              <a:t>82 labels. Unequal chances.</a:t>
            </a:r>
          </a:p>
          <a:p>
            <a:r>
              <a:t>Arabic medical question–answer classification</a:t>
            </a:r>
          </a:p>
          <a:p>
            <a:r>
              <a:t>82</a:t>
            </a:r>
          </a:p>
          <a:p>
            <a:r>
              <a:t>CATEGORIES</a:t>
            </a:r>
          </a:p>
          <a:p>
            <a:r>
              <a:t>27,951</a:t>
            </a:r>
          </a:p>
          <a:p>
            <a:r>
              <a:t>TRAINING INSTANCES</a:t>
            </a:r>
          </a:p>
          <a:p>
            <a:r>
              <a:t>18,634</a:t>
            </a:r>
          </a:p>
          <a:p>
            <a:r>
              <a:t>EVALUATION INSTANCES</a:t>
            </a:r>
          </a:p>
          <a:p>
            <a:r>
              <a:t>Unequal class support</a:t>
            </a:r>
          </a:p>
          <a:p>
            <a:r>
              <a:t>Equal weight in macro-F1</a:t>
            </a:r>
          </a:p>
          <a:p>
            <a:r>
              <a:t>Weak classes remain visible in the score.</a:t>
            </a:r>
          </a:p>
          <a:p>
            <a:r>
              <a:t>Source: MetaSwarm, abstract and §1</a:t>
            </a:r>
          </a:p>
          <a:p>
            <a:r>
              <a:t>02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S3.svg. Faithful image conversion; slide text is not individually editable.</a:t>
            </a:r>
          </a:p>
          <a:p/>
          <a:p>
            <a:r>
              <a:t>42 classes define the problem</a:t>
            </a:r>
          </a:p>
          <a:p>
            <a:r>
              <a:t>Baseline F1 &lt; 0.40 defines the oversampling list; frequency alone does not.</a:t>
            </a:r>
          </a:p>
          <a:p>
            <a:r>
              <a:t>Source: MetaSwarm, Figure 3 and §4.1–4.2 · baseline diagnostic; causes remain hypotheses</a:t>
            </a:r>
          </a:p>
          <a:p>
            <a:r>
              <a:t>03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S4.svg. Faithful image conversion; slide text is not individually editable.</a:t>
            </a:r>
          </a:p>
          <a:p/>
          <a:p>
            <a:r>
              <a:t>The audit becomes an intervention</a:t>
            </a:r>
          </a:p>
          <a:p>
            <a:r>
              <a:t>Diagnose</a:t>
            </a:r>
          </a:p>
          <a:p>
            <a:r>
              <a:t>Baseline per-class F1</a:t>
            </a:r>
          </a:p>
          <a:p>
            <a:r>
              <a:t>identifies the Tail-42.</a:t>
            </a:r>
          </a:p>
          <a:p>
            <a:r>
              <a:t>Refine</a:t>
            </a:r>
          </a:p>
          <a:p>
            <a:r>
              <a:t>Duplicate weak classes</a:t>
            </a:r>
          </a:p>
          <a:p>
            <a:r>
              <a:t>after each fold split.</a:t>
            </a:r>
          </a:p>
          <a:p>
            <a:r>
              <a:t>Ensemble</a:t>
            </a:r>
          </a:p>
          <a:p>
            <a:r>
              <a:t>Train five stratified folds;</a:t>
            </a:r>
          </a:p>
          <a:p>
            <a:r>
              <a:t>average their test logits.</a:t>
            </a:r>
          </a:p>
          <a:p>
            <a:r>
              <a:t>Validation stays free of duplicated training examples.</a:t>
            </a:r>
          </a:p>
          <a:p>
            <a:r>
              <a:t>Source: MetaSwarm, Figure 1 and §2.2 · documented infrastructure, no algorithmic novelty claim</a:t>
            </a:r>
          </a:p>
          <a:p>
            <a:r>
              <a:t>04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S5.svg. Faithful image conversion; slide text is not individually editable.</a:t>
            </a:r>
          </a:p>
          <a:p/>
          <a:p>
            <a:r>
              <a:t>One recipe, distinct loss stages</a:t>
            </a:r>
          </a:p>
          <a:p>
            <a:r>
              <a:t>Backbone: CAMeLBERT-DA</a:t>
            </a:r>
          </a:p>
          <a:p>
            <a:r>
              <a:t>DEVELOPMENT</a:t>
            </a:r>
          </a:p>
          <a:p>
            <a:r>
              <a:t>Effective-number class weights</a:t>
            </a:r>
          </a:p>
          <a:p>
            <a:r>
              <a:t>Explored during development.</a:t>
            </a:r>
          </a:p>
          <a:p>
            <a:r>
              <a:t>FINAL ENSEMBLE</a:t>
            </a:r>
          </a:p>
          <a:p>
            <a:r>
              <a:t>Focal cross-entropy</a:t>
            </a:r>
          </a:p>
          <a:p>
            <a:r>
              <a:t>with smoothing</a:t>
            </a:r>
          </a:p>
          <a:p>
            <a:r>
              <a:t>L = −(1/B) ∑ᵦ α_f (1 − p_t,b)^γ CE_ε(b)</a:t>
            </a:r>
          </a:p>
          <a:p>
            <a:r>
              <a:t>γ = 2.5   ·   scalar α_f = 0.25   ·   ε = 0.15</a:t>
            </a:r>
          </a:p>
          <a:p>
            <a:r>
              <a:t>No matched experiment isolates either loss component.</a:t>
            </a:r>
          </a:p>
          <a:p>
            <a:r>
              <a:t>Source: MetaSwarm, §2.1, Equations 1–2 · equation follows the source sign convention</a:t>
            </a:r>
          </a:p>
          <a:p>
            <a:r>
              <a:t>05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S6.svg. Faithful image conversion; slide text is not individually editable.</a:t>
            </a:r>
          </a:p>
          <a:p/>
          <a:p>
            <a:r>
              <a:t>Five folds, one reproducible setup</a:t>
            </a:r>
          </a:p>
          <a:p>
            <a:r>
              <a:t>5</a:t>
            </a:r>
          </a:p>
          <a:p>
            <a:r>
              <a:t>STRATIFIED</a:t>
            </a:r>
          </a:p>
          <a:p>
            <a:r>
              <a:t>FOLDS</a:t>
            </a:r>
          </a:p>
          <a:p>
            <a:r>
              <a:t>20 epochs per fold</a:t>
            </a:r>
          </a:p>
          <a:p>
            <a:r>
              <a:t>Batch 256 · maximum length 192</a:t>
            </a:r>
          </a:p>
          <a:p>
            <a:r>
              <a:t>AdamW · learning rate 9 × 10⁻⁵</a:t>
            </a:r>
          </a:p>
          <a:p>
            <a:r>
              <a:t>Cosine schedule</a:t>
            </a:r>
          </a:p>
          <a:p>
            <a:r>
              <a:t>2 × H200 GPUs · FP16</a:t>
            </a:r>
          </a:p>
          <a:p>
            <a:r>
              <a:t>Seed 42</a:t>
            </a:r>
          </a:p>
          <a:p>
            <a:r>
              <a:t>Submitted ensemble settings; the baseline audit uses a smaller run.</a:t>
            </a:r>
          </a:p>
          <a:p>
            <a:r>
              <a:t>Source: MetaSwarm, Table 1 and §2.2</a:t>
            </a:r>
          </a:p>
          <a:p>
            <a:r>
              <a:t>06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S7.svg. Faithful image conversion; slide text is not individually editable.</a:t>
            </a:r>
          </a:p>
          <a:p/>
          <a:p>
            <a:r>
              <a:t>A small split gap; headroom remains</a:t>
            </a:r>
          </a:p>
          <a:p>
            <a:r>
              <a:t>PUBLIC MACRO-F1</a:t>
            </a:r>
          </a:p>
          <a:p>
            <a:r>
              <a:t>0.3588</a:t>
            </a:r>
          </a:p>
          <a:p>
            <a:r>
              <a:t>PRIVATE MACRO-F1</a:t>
            </a:r>
          </a:p>
          <a:p>
            <a:r>
              <a:t>0.3520</a:t>
            </a:r>
          </a:p>
          <a:p>
            <a:r>
              <a:t>Gap: 0.0068 · one submission cannot establish generalization.</a:t>
            </a:r>
          </a:p>
          <a:p>
            <a:r>
              <a:t>Reported BERT + kNN: 0.4902</a:t>
            </a:r>
          </a:p>
          <a:p>
            <a:r>
              <a:t>A useful next comparison; cross-system scores do not isolate retrieval’s effect.</a:t>
            </a:r>
          </a:p>
          <a:p>
            <a:r>
              <a:t>Source: MetaSwarm, §3.2</a:t>
            </a:r>
          </a:p>
          <a:p>
            <a:r>
              <a:t>07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S8.svg. Faithful image conversion; slide text is not individually editable.</a:t>
            </a:r>
          </a:p>
          <a:p/>
          <a:p>
            <a:r>
              <a:t>The mechanisms still need tests</a:t>
            </a:r>
          </a:p>
          <a:p>
            <a:r>
              <a:t>Matched loss ablations are missing.</a:t>
            </a:r>
          </a:p>
          <a:p>
            <a:r>
              <a:t>CE · focal-only · class-weighted CE · combined loss</a:t>
            </a:r>
          </a:p>
          <a:p>
            <a:r>
              <a:t>Needed: fixed-split comparisons with variability reported.</a:t>
            </a:r>
          </a:p>
          <a:p>
            <a:r>
              <a:t>HYPOTHESIS</a:t>
            </a:r>
          </a:p>
          <a:p>
            <a:r>
              <a:t>PROPOSED MEASUREMENT</a:t>
            </a:r>
          </a:p>
          <a:p>
            <a:r>
              <a:t>Dialectal shift</a:t>
            </a:r>
          </a:p>
          <a:p>
            <a:r>
              <a:t>Dialect-annotated errors</a:t>
            </a:r>
          </a:p>
          <a:p>
            <a:r>
              <a:t>Orthographic ambiguity</a:t>
            </a:r>
          </a:p>
          <a:p>
            <a:r>
              <a:t>Vocalization entropy</a:t>
            </a:r>
          </a:p>
          <a:p>
            <a:r>
              <a:t>Code-switching</a:t>
            </a:r>
          </a:p>
          <a:p>
            <a:r>
              <a:t>Tokenizer fragmentation</a:t>
            </a:r>
          </a:p>
          <a:p>
            <a:r>
              <a:t>Confusion and raw attention do not identify a cause.</a:t>
            </a:r>
          </a:p>
          <a:p>
            <a:r>
              <a:t>Source: MetaSwarm, §4.2, §5 and §7 · proposed follow-up evidence, not established mechanisms</a:t>
            </a:r>
          </a:p>
          <a:p>
            <a:r>
              <a:t>08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S9.svg. Faithful image conversion; slide text is not individually editable.</a:t>
            </a:r>
          </a:p>
          <a:p/>
          <a:p>
            <a:r>
              <a:t>Select the metric you are scored on</a:t>
            </a:r>
          </a:p>
          <a:p>
            <a:r>
              <a:t>Baseline diagnostics: loss and macro-F1 choose different checkpoints.</a:t>
            </a:r>
          </a:p>
          <a:p>
            <a:r>
              <a:t>MINIMUM LOSS</a:t>
            </a:r>
          </a:p>
          <a:p>
            <a:r>
              <a:t>Epoch 4</a:t>
            </a:r>
          </a:p>
          <a:p>
            <a:r>
              <a:t>Validation loss 2.530</a:t>
            </a:r>
          </a:p>
          <a:p>
            <a:r>
              <a:t>PEAK MACRO-F1</a:t>
            </a:r>
          </a:p>
          <a:p>
            <a:r>
              <a:t>Epoch 8</a:t>
            </a:r>
          </a:p>
          <a:p>
            <a:r>
              <a:t>Macro-F1 0.340</a:t>
            </a:r>
          </a:p>
          <a:p>
            <a:r>
              <a:t>Source: MetaSwarm, Figure 2 and Table 2 · baseline only; not a final ensemble trajectory</a:t>
            </a:r>
          </a:p>
          <a:p>
            <a:r>
              <a:t>09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S10.svg. Faithful image conversion; slide text is not individually editable.</a:t>
            </a:r>
          </a:p>
          <a:p/>
          <a:p>
            <a:r>
              <a:t>Audit first.</a:t>
            </a:r>
          </a:p>
          <a:p>
            <a:r>
              <a:t>Then test the cause.</a:t>
            </a:r>
          </a:p>
          <a:p>
            <a:r>
              <a:t>Audit</a:t>
            </a:r>
          </a:p>
          <a:p>
            <a:r>
              <a:t>Measure the failure tail.</a:t>
            </a:r>
          </a:p>
          <a:p>
            <a:r>
              <a:t>Document the intervention.</a:t>
            </a:r>
          </a:p>
          <a:p>
            <a:r>
              <a:t>Compare</a:t>
            </a:r>
          </a:p>
          <a:p>
            <a:r>
              <a:t>Matched losses + retrieval.</a:t>
            </a:r>
          </a:p>
          <a:p>
            <a:r>
              <a:t>Direct linguistic tests.</a:t>
            </a:r>
          </a:p>
          <a:p>
            <a:r>
              <a:t>Report</a:t>
            </a:r>
          </a:p>
          <a:p>
            <a:r>
              <a:t>Head / medium / tail.</a:t>
            </a:r>
          </a:p>
          <a:p>
            <a:r>
              <a:t>Keep claims evidence-led.</a:t>
            </a:r>
          </a:p>
          <a:p>
            <a:r>
              <a:t>A documented baseline; clinical readiness and broader robustness remain unestablished.</a:t>
            </a:r>
          </a:p>
          <a:p>
            <a:r>
              <a:t>Source: MetaSwarm, §5 and §7</a:t>
            </a:r>
          </a:p>
          <a:p>
            <a:r>
              <a:t>10 /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aswarm-sourc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MetaSwarm at AbjadMed</dc:title>
  <dc:subject/>
  <dc:creator>Rahul Jaisy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